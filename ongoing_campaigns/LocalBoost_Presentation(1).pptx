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41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790913-60DD-483D-AE6B-1BCCDAAD4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" y="0"/>
            <a:ext cx="913342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139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457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LocalBoost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1280160" y="1325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Digital Transformation Platform for SMBs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280160" y="2011680"/>
            <a:ext cx="5029200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80160" y="2194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3.5 Million Businesses to Go Digital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3017520"/>
            <a:ext cx="1554480" cy="384048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</a:p>
          <a:p>
            <a:pPr marL="0" indent="0" algn="ctr">
              <a:buNone/>
            </a:pPr>
            <a:r>
              <a:rPr lang="en-US" sz="1050" b="1" dirty="0" err="1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Kainat</a:t>
            </a:r>
            <a:r>
              <a:rPr lang="en-US" sz="10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Amjad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176272" y="3017520"/>
            <a:ext cx="1554480" cy="384048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Hammad Ali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895344" y="3017520"/>
            <a:ext cx="1554480" cy="384048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Abdullah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14416" y="3017520"/>
            <a:ext cx="1554480" cy="384048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Hanan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33488" y="3017520"/>
            <a:ext cx="1554480" cy="384048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Manager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Nahyan Khan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74320" y="448056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Team LocalBoost  |  Introduction to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22860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560320" cy="914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in Pakistan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offline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22860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801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91840" y="2331720"/>
            <a:ext cx="2560320" cy="914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businesses have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digital presence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2286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801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126480" y="2331720"/>
            <a:ext cx="2560320" cy="914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manage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grow digitally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backbone of Pakistan's economy is invisible online.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ever gave them the tools to enter the digital world."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CEO, LocalBoost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LocalBoost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560320" cy="16459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0759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33502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Storefront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online in 30 minutes with a full digital presence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54680" y="1143000"/>
            <a:ext cx="2560320" cy="16459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30759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33502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4612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JazzCash, EasyPaisa &amp; card payments integrated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89320" y="1143000"/>
            <a:ext cx="2560320" cy="16459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30759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33502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08076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data, demand forecasting &amp; insights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0040" y="3063240"/>
            <a:ext cx="2560320" cy="1645920"/>
          </a:xfrm>
          <a:prstGeom prst="rect">
            <a:avLst/>
          </a:prstGeom>
          <a:solidFill>
            <a:srgbClr val="122D55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22783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25526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1148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pricing &amp; customer support — automated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154680" y="3063240"/>
            <a:ext cx="2560320" cy="1645920"/>
          </a:xfrm>
          <a:prstGeom prst="rect">
            <a:avLst/>
          </a:prstGeom>
          <a:solidFill>
            <a:srgbClr val="122D55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91840" y="322783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3255264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40480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24612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every transaction, blocks suspicious activity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989320" y="3063240"/>
            <a:ext cx="2560320" cy="1645920"/>
          </a:xfrm>
          <a:prstGeom prst="rect">
            <a:avLst/>
          </a:prstGeom>
          <a:solidFill>
            <a:srgbClr val="122D55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322783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3255264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75120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Support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08076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Urdu-language chatbot for local merchants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D55"/>
          </a:solidFill>
          <a:ln w="12700">
            <a:solidFill>
              <a:srgbClr val="122D5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— Strategy &amp; Leadership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1148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Decisions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11480" y="1554480"/>
            <a:ext cx="3749040" cy="804672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572768"/>
            <a:ext cx="3566160" cy="76809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Tier 2 &amp; 3 cities as primary market — first mover advantage in untapped segments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2514600"/>
            <a:ext cx="3749040" cy="804672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2532888"/>
            <a:ext cx="3566160" cy="76809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Freemium pricing — prove value before asking merchants to pay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3474720"/>
            <a:ext cx="3749040" cy="804672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" y="3493008"/>
            <a:ext cx="3566160" cy="76809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Lean 5-person team powered by AI — intelligence over headcount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Philosophy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0" y="1554480"/>
            <a:ext cx="4114800" cy="804672"/>
          </a:xfrm>
          <a:prstGeom prst="rect">
            <a:avLst/>
          </a:prstGeom>
          <a:solidFill>
            <a:srgbClr val="122D55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63440" y="1572768"/>
            <a:ext cx="39319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 Leadership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66344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Inspire, not just manage. Build shared vision.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0" y="2514600"/>
            <a:ext cx="4114800" cy="804672"/>
          </a:xfrm>
          <a:prstGeom prst="rect">
            <a:avLst/>
          </a:prstGeom>
          <a:solidFill>
            <a:srgbClr val="122D55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63440" y="2532888"/>
            <a:ext cx="39319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Incentives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663440" y="2788920"/>
            <a:ext cx="39319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targets → rewarded financially &amp; publicly every quarter.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0" y="3474720"/>
            <a:ext cx="4114800" cy="804672"/>
          </a:xfrm>
          <a:prstGeom prst="rect">
            <a:avLst/>
          </a:prstGeom>
          <a:solidFill>
            <a:srgbClr val="122D55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663440" y="3493008"/>
            <a:ext cx="39319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Communication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663440" y="3749040"/>
            <a:ext cx="39319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sync meetings + open door policy + monthly all-hands.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— Growth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560320" cy="33832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560320" cy="1645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Merchants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Built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560320" cy="33832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91840" y="2697480"/>
            <a:ext cx="2560320" cy="1645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Across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Cities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560320" cy="3383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26480" y="2697480"/>
            <a:ext cx="2560320" cy="1645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Leadership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Bangladesh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Sri Lanka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2834640"/>
            <a:ext cx="502920" cy="0"/>
          </a:xfrm>
          <a:prstGeom prst="line">
            <a:avLst/>
          </a:prstGeom>
          <a:noFill/>
          <a:ln w="381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834640"/>
            <a:ext cx="502920" cy="0"/>
          </a:xfrm>
          <a:prstGeom prst="line">
            <a:avLst/>
          </a:prstGeom>
          <a:noFill/>
          <a:ln w="381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KPIs  ·  Monthly Financial Controls  ·  Quarterly Strategic Reviews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— Platform Architecture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69848"/>
            <a:ext cx="13716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28800" y="1380744"/>
            <a:ext cx="0" cy="329184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0" y="1069848"/>
            <a:ext cx="65836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|  Mobile-First  |  90% smartphone users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5760" y="1810512"/>
            <a:ext cx="8412480" cy="6583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828800"/>
            <a:ext cx="13716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28800" y="2139696"/>
            <a:ext cx="0" cy="329184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11680" y="1828800"/>
            <a:ext cx="65836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Microservices  |  Inventory · Payments · Orders · Analytics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" y="2569464"/>
            <a:ext cx="841248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2587752"/>
            <a:ext cx="13716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828800" y="2898648"/>
            <a:ext cx="0" cy="329184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11680" y="2587752"/>
            <a:ext cx="65836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 |  Demand Forecasting · Segmentation · Dynamic Pricing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65760" y="3328416"/>
            <a:ext cx="841248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" y="3346704"/>
            <a:ext cx="13716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828800" y="3657600"/>
            <a:ext cx="0" cy="329184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11680" y="3346704"/>
            <a:ext cx="65836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JazzCash · EasyPaisa · Cards  |  95% Transaction Success Rate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65760" y="4087368"/>
            <a:ext cx="841248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57200" y="4105656"/>
            <a:ext cx="13716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828800" y="4416552"/>
            <a:ext cx="0" cy="329184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11680" y="4105656"/>
            <a:ext cx="65836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Cloud-Native  |  99.5% Uptime  |  Microservices Architecture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2D55"/>
          </a:solidFill>
          <a:ln w="12700">
            <a:solidFill>
              <a:srgbClr val="12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— AI Integration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058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216152"/>
            <a:ext cx="320040" cy="320040"/>
          </a:xfrm>
          <a:prstGeom prst="rect">
            <a:avLst/>
          </a:prstGeom>
          <a:solidFill>
            <a:srgbClr val="FFB70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2161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merchant inventory automatically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14800" cy="10058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216152"/>
            <a:ext cx="320040" cy="320040"/>
          </a:xfrm>
          <a:prstGeom prst="rect">
            <a:avLst/>
          </a:prstGeom>
          <a:solidFill>
            <a:srgbClr val="FFB70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57800" y="12161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57800" y="1600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marketing without a marketing team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2404872"/>
            <a:ext cx="320040" cy="320040"/>
          </a:xfrm>
          <a:prstGeom prst="rect">
            <a:avLst/>
          </a:prstGeom>
          <a:solidFill>
            <a:srgbClr val="FFB70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4048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Chatbot 24/7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27889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customer support autonomously in Urdu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114800" cy="10058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8032" y="2404872"/>
            <a:ext cx="320040" cy="320040"/>
          </a:xfrm>
          <a:prstGeom prst="rect">
            <a:avLst/>
          </a:prstGeom>
          <a:solidFill>
            <a:srgbClr val="FFB70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24048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57800" y="27889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prices from real-time market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3520440"/>
            <a:ext cx="4023360" cy="10058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33472" y="3593592"/>
            <a:ext cx="320040" cy="320040"/>
          </a:xfrm>
          <a:prstGeom prst="rect">
            <a:avLst/>
          </a:prstGeom>
          <a:solidFill>
            <a:srgbClr val="FFB70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63240" y="35935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063240" y="39776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&amp; blocks suspicious transactions instantly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replace output of 15–20 technical staff  |  Intelligent Automation over Headcount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 — Strategy &amp; Channels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2560320" cy="1554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1207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237744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in just 30 minutes — any shop owner can do it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560320" cy="1554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188720"/>
            <a:ext cx="502920" cy="5029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86200" y="1207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1737360"/>
            <a:ext cx="237744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2,999/month — 60% cheaper than any international competitor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35040" y="1097280"/>
            <a:ext cx="2560320" cy="1554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1188720"/>
            <a:ext cx="502920" cy="5029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20840" y="1207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126480" y="1737360"/>
            <a:ext cx="237744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JazzCash, EasyPaisa &amp; Urdu support — no foreign platform offers this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6576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Marketing Channels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65760" y="3337560"/>
            <a:ext cx="2011680" cy="15087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6576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" y="3886200"/>
            <a:ext cx="20116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markets, sign up merchants face to face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60320" y="3337560"/>
            <a:ext cx="2011680" cy="150876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56032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560320" y="3886200"/>
            <a:ext cx="20116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Jazz, Zong &amp; chambers of commerce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54880" y="3337560"/>
            <a:ext cx="2011680" cy="15087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75488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54880" y="3886200"/>
            <a:ext cx="20116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&amp; Google ads targeting SMB owners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949440" y="3337560"/>
            <a:ext cx="2011680" cy="150876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94944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949440" y="3886200"/>
            <a:ext cx="20116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merchants bring new merchants — rewarded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— SWOT Analysis &amp; Strategic Plan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161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18488"/>
            <a:ext cx="41148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understanding of Pakistan's SMB market — built local, for local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114800" cy="12618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2161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18488"/>
            <a:ext cx="41148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million SMBs still offline — massive untapped market waiting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4114800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6334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41148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brand — awareness and trust take time to build organically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4114800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6334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035808"/>
            <a:ext cx="41148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platforms like Shopify entering Pakistan's market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Penetration Pricing  ·  Partnership-Driven Growth  ·  AI-Powered Marketing Automation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2D55"/>
          </a:solidFill>
          <a:ln w="12700">
            <a:solidFill>
              <a:srgbClr val="122D5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 — Structure &amp; Hiring Process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749040" y="1051560"/>
            <a:ext cx="1645920" cy="6400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749040" y="1051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1691640"/>
            <a:ext cx="0" cy="32004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1560" y="2011680"/>
            <a:ext cx="704088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88720" y="2011680"/>
            <a:ext cx="0" cy="2743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2286000"/>
            <a:ext cx="171907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5760" y="230428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271576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AI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37560" y="2011680"/>
            <a:ext cx="0" cy="27432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2286000"/>
            <a:ext cx="1719072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514600" y="230428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271576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Brand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0" y="2011680"/>
            <a:ext cx="0" cy="27432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2286000"/>
            <a:ext cx="1719072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63440" y="230428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63440" y="271576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Culture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635240" y="2011680"/>
            <a:ext cx="0" cy="27432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12280" y="2286000"/>
            <a:ext cx="1719072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812280" y="230428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12280" y="271576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&amp; Control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65760" y="3337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Hiring Process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65760" y="3794760"/>
            <a:ext cx="1554480" cy="10058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86968" y="3822192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6968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65760" y="4370832"/>
            <a:ext cx="15544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on LinkedIn / Rozee.pk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084832" y="3794760"/>
            <a:ext cx="1554480" cy="10058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606040" y="3822192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06040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2084832" y="4370832"/>
            <a:ext cx="15544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Screening of Applications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803904" y="3794760"/>
            <a:ext cx="1554480" cy="10058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325112" y="3822192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325112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3803904" y="4370832"/>
            <a:ext cx="15544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Skills Test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522976" y="3794760"/>
            <a:ext cx="1554480" cy="10058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044184" y="3822192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44184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5522976" y="4370832"/>
            <a:ext cx="15544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with Department Head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242048" y="3794760"/>
            <a:ext cx="1554480" cy="10058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763256" y="3822192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763256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7242048" y="4370832"/>
            <a:ext cx="15544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Onboarding + Mentor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 — Evaluation, Diversity &amp; CSR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KPI-based performance reviews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756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20482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feedback — manager, peers &amp; subordinates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642616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" y="26151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directly linked to promotions &amp; bonuses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9544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1520" y="31821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improvement plan for underperformers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66344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Ethics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4663440" y="1481328"/>
            <a:ext cx="4114800" cy="438912"/>
          </a:xfrm>
          <a:prstGeom prst="rect">
            <a:avLst/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4754880" y="1499616"/>
            <a:ext cx="393192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women target across the team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663440" y="2048256"/>
            <a:ext cx="4114800" cy="438912"/>
          </a:xfrm>
          <a:prstGeom prst="rect">
            <a:avLst/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4754880" y="2066544"/>
            <a:ext cx="393192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from Tier 2 &amp; 3 cities across Pakistan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663440" y="2615184"/>
            <a:ext cx="4114800" cy="438912"/>
          </a:xfrm>
          <a:prstGeom prst="rect">
            <a:avLst/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4754880" y="2633472"/>
            <a:ext cx="393192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encryption + Urdu privacy policy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663440" y="3182112"/>
            <a:ext cx="4114800" cy="438912"/>
          </a:xfrm>
          <a:prstGeom prst="rect">
            <a:avLst/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4754880" y="3200400"/>
            <a:ext cx="393192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third-party data sharing policy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65760" y="3886200"/>
            <a:ext cx="841248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457200" y="3931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Commitments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digital workshops for 500 women entrepreneurs/year  ·  20 BSCS internships from 8 universities  ·  50% discount for non-profits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2D55"/>
          </a:solidFill>
          <a:ln w="12700">
            <a:solidFill>
              <a:srgbClr val="122D5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Manager — Pricing &amp; Revenue Model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2606040" cy="23774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719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storefront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26243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 to 10 products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9626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before you pay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097280"/>
            <a:ext cx="2606040" cy="2377440"/>
          </a:xfrm>
          <a:prstGeom prst="rect">
            <a:avLst/>
          </a:prstGeom>
          <a:solidFill>
            <a:srgbClr val="0096C7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97280"/>
            <a:ext cx="2606040" cy="411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1097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0040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177540" y="18242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2,999/mo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14700" y="23728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platform access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333135" y="2628753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 &amp; inventory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346409" y="2921361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80% of our merchants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35040" y="1097280"/>
            <a:ext cx="2606040" cy="23774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3504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035040" y="1719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9,999/mo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2860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features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172200" y="26243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High-growth businesses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172200" y="29626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support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65760" y="3657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65760" y="4069080"/>
            <a:ext cx="1920240" cy="685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6576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Fees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560320" y="4069080"/>
            <a:ext cx="1920240" cy="685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256032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Services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54880" y="4069080"/>
            <a:ext cx="1920240" cy="685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75488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Support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949440" y="4069080"/>
            <a:ext cx="1920240" cy="685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94944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Commissions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revenue stream exceeds 50% — deliberate risk mitigation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— KPIs &amp; Unit Economics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&amp; Revenue Growth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3,200 merchants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56232"/>
            <a:ext cx="420624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56232"/>
            <a:ext cx="1135685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671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8.4M/month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6,500 merchants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60904"/>
            <a:ext cx="420624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660904"/>
            <a:ext cx="2313432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71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18M/month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118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End — 12,000 merchants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65576"/>
            <a:ext cx="420624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65576"/>
            <a:ext cx="420624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764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35M/month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1508760"/>
            <a:ext cx="3749040" cy="621792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1527048"/>
            <a:ext cx="210312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0" y="1527048"/>
            <a:ext cx="137160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4,200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2258568"/>
            <a:ext cx="3749040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0" y="2276856"/>
            <a:ext cx="210312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0" y="2276856"/>
            <a:ext cx="137160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3008376"/>
            <a:ext cx="3749040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0" y="3026664"/>
            <a:ext cx="210312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3026664"/>
            <a:ext cx="137160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months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0" y="3758184"/>
            <a:ext cx="3749040" cy="62179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20640" y="3776472"/>
            <a:ext cx="210312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 Ratio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0" y="3776472"/>
            <a:ext cx="137160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: 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1480" y="4411980"/>
            <a:ext cx="8412480" cy="6858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4251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Month 8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46120" y="4389120"/>
            <a:ext cx="0" cy="32004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4251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Profitable: Year 2 — PKR 8 Crore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80760" y="4389120"/>
            <a:ext cx="0" cy="32004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4251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Profit Margin: Year 3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2D55"/>
          </a:solidFill>
          <a:ln w="12700">
            <a:solidFill>
              <a:srgbClr val="12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— Controlling Framework &amp; Cost Optimization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170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234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618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Reviews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947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of all key performance indicators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14800" cy="1170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1234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1618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64608" y="1947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vs. targets comparison across all departments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11480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2560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2944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Reviews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273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progress review and course correction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4114800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64608" y="2560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4608" y="2944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3273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on track  ·  Yellow = watch  ·  Red = act now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931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343400"/>
            <a:ext cx="2606040" cy="5486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3616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6360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reduction in customer support costs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4343400"/>
            <a:ext cx="2606040" cy="5486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43616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Optimization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91840" y="46360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reduction in infrastructure costs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4343400"/>
            <a:ext cx="2606040" cy="54864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0" y="43616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Growth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26480" y="46360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reduction in customer acquisition cost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FFB703">
              <a:alpha val="12000"/>
            </a:srgbClr>
          </a:solidFill>
          <a:ln w="12700">
            <a:solidFill>
              <a:srgbClr val="FFB70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LocalBoost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188720" y="1143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Pakistan's Digital Economy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1783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companies that will define Pakistan's digital future are not the ones with the most employees.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the ones with the clearest vision, the smartest systems,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courage to solve problems nobody else wants to touch."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" y="3154680"/>
            <a:ext cx="1828800" cy="114300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94360" y="3767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Leaders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0" y="3154680"/>
            <a:ext cx="1828800" cy="114300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743200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2743200" y="3767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92040" y="3154680"/>
            <a:ext cx="1828800" cy="114300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92040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44:1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4892040" y="3767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40880" y="3154680"/>
            <a:ext cx="1828800" cy="1143000"/>
          </a:xfrm>
          <a:prstGeom prst="rect">
            <a:avLst/>
          </a:prstGeom>
          <a:solidFill>
            <a:srgbClr val="122D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40880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7040880" y="3767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SMBs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We are happy to take your questions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1026</Words>
  <Application>Microsoft Office PowerPoint</Application>
  <PresentationFormat>On-screen Show (16:9)</PresentationFormat>
  <Paragraphs>253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LocalBoost — Digital Transformation Platform</dc:title>
  <dc:subject>PptxGenJS Presentation</dc:subject>
  <dc:creator>PptxGenJS</dc:creator>
  <cp:lastModifiedBy>Abdul Hanan</cp:lastModifiedBy>
  <cp:revision>3</cp:revision>
  <dcterms:created xsi:type="dcterms:W3CDTF">2026-05-04T05:09:23Z</dcterms:created>
  <dcterms:modified xsi:type="dcterms:W3CDTF">2026-05-04T07:45:45Z</dcterms:modified>
</cp:coreProperties>
</file>